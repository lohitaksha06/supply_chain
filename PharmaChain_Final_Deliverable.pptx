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A64"/>
    <a:srgbClr val="1383C6"/>
    <a:srgbClr val="333333"/>
    <a:srgbClr val="FEFEFE"/>
    <a:srgbClr val="F9F9F9"/>
    <a:srgbClr val="F7F7F7"/>
    <a:srgbClr val="F7F9FC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3"/>
    <p:restoredTop sz="94666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CD9003-89EF-2543-B5A6-B4EEDED98A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8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140D4-47EE-6748-A7C5-5CA185250F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99751"/>
            <a:ext cx="9144000" cy="2533135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1C4D4-287B-2941-A10E-62070035E6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8849" y="3632887"/>
            <a:ext cx="6314302" cy="420129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>
                <a:solidFill>
                  <a:srgbClr val="33333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Name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F3B9ED-C59E-894F-9B93-87701272A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8463" y="4522573"/>
            <a:ext cx="6315075" cy="67932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EF817F-FC23-914D-BB20-6E574B9566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8463" y="4053016"/>
            <a:ext cx="6315075" cy="46955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en-US" dirty="0"/>
              <a:t>Job Title, Organization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114043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dustry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840B5-D009-D040-808C-4A9A9A9B348C}"/>
              </a:ext>
            </a:extLst>
          </p:cNvPr>
          <p:cNvSpPr txBox="1"/>
          <p:nvPr userDrawn="1"/>
        </p:nvSpPr>
        <p:spPr>
          <a:xfrm>
            <a:off x="358345" y="1114093"/>
            <a:ext cx="341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7EEB1-12DB-BA49-99DC-89C82796A900}"/>
              </a:ext>
            </a:extLst>
          </p:cNvPr>
          <p:cNvSpPr txBox="1"/>
          <p:nvPr userDrawn="1"/>
        </p:nvSpPr>
        <p:spPr>
          <a:xfrm>
            <a:off x="358345" y="1683588"/>
            <a:ext cx="341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SEGMENT: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96DFBF-64BF-BB4E-B71C-8246CD61CC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29263" y="1114092"/>
            <a:ext cx="8332537" cy="430887"/>
          </a:xfrm>
        </p:spPr>
        <p:txBody>
          <a:bodyPr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Identify the industry you chose for your project.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1395ED0-049B-4442-B2C4-68B5BB927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29264" y="1683588"/>
            <a:ext cx="8332537" cy="430887"/>
          </a:xfrm>
        </p:spPr>
        <p:txBody>
          <a:bodyPr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Identify the market segment you chose for your project.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CC46F-C42A-5042-BF35-78C957B2DB01}"/>
              </a:ext>
            </a:extLst>
          </p:cNvPr>
          <p:cNvSpPr txBox="1"/>
          <p:nvPr userDrawn="1"/>
        </p:nvSpPr>
        <p:spPr>
          <a:xfrm>
            <a:off x="358346" y="2251818"/>
            <a:ext cx="493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RATIONALE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71CFF6-7125-B74F-8E23-77CE7DFBD7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346" y="2713483"/>
            <a:ext cx="11503454" cy="3618805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Explain why the market segment you selected is attractive for blockchain technologies.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FF01423-900B-8F42-914F-2DC94211E12E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INDUSTRY ANALYSIS</a:t>
            </a:r>
          </a:p>
        </p:txBody>
      </p:sp>
    </p:spTree>
    <p:extLst>
      <p:ext uri="{BB962C8B-B14F-4D97-AF65-F5344CB8AC3E}">
        <p14:creationId xmlns:p14="http://schemas.microsoft.com/office/powerpoint/2010/main" val="132110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Market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A0073-60F5-DD47-9DA0-D356098018EA}"/>
              </a:ext>
            </a:extLst>
          </p:cNvPr>
          <p:cNvSpPr txBox="1"/>
          <p:nvPr userDrawn="1"/>
        </p:nvSpPr>
        <p:spPr>
          <a:xfrm>
            <a:off x="358346" y="1122115"/>
            <a:ext cx="694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RESEARCH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9717032-D41C-654E-A7FD-90723307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346" y="1583780"/>
            <a:ext cx="11519913" cy="4748508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Describe the market research approach(</a:t>
            </a:r>
            <a:r>
              <a:rPr lang="en-US" dirty="0" err="1"/>
              <a:t>es</a:t>
            </a:r>
            <a:r>
              <a:rPr lang="en-US" dirty="0"/>
              <a:t>) you used to explore your industry and identify your market segment. Summarize the key findings from your market research.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69E6469-9D9D-294E-942B-1D4C3020A741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INDUSTRY ANALYSIS</a:t>
            </a:r>
          </a:p>
        </p:txBody>
      </p:sp>
    </p:spTree>
    <p:extLst>
      <p:ext uri="{BB962C8B-B14F-4D97-AF65-F5344CB8AC3E}">
        <p14:creationId xmlns:p14="http://schemas.microsoft.com/office/powerpoint/2010/main" val="205842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Competitive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A0073-60F5-DD47-9DA0-D356098018EA}"/>
              </a:ext>
            </a:extLst>
          </p:cNvPr>
          <p:cNvSpPr txBox="1"/>
          <p:nvPr userDrawn="1"/>
        </p:nvSpPr>
        <p:spPr>
          <a:xfrm>
            <a:off x="358346" y="1122115"/>
            <a:ext cx="694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COMPETITIVE ANALYSIS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9717032-D41C-654E-A7FD-90723307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346" y="1583780"/>
            <a:ext cx="11519913" cy="4748508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Summarize the results of your competitive analysis. Identify your top three competitors, and list their main strengths and weaknesses.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E977A3-9703-934F-95BA-5BD0D9A7BB18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INDUSTRY ANALYSIS</a:t>
            </a:r>
          </a:p>
        </p:txBody>
      </p:sp>
    </p:spTree>
    <p:extLst>
      <p:ext uri="{BB962C8B-B14F-4D97-AF65-F5344CB8AC3E}">
        <p14:creationId xmlns:p14="http://schemas.microsoft.com/office/powerpoint/2010/main" val="174795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Decision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599610-D476-8845-9CEF-2C355136AF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347" y="985756"/>
            <a:ext cx="11503454" cy="5506951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r>
              <a:rPr lang="en-US" dirty="0"/>
              <a:t>Insert a picture of your completed decision matrix. (Optional)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276D2E-790B-AC46-9D80-89753C98C097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OPPORTUNITY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73295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Opportunity Identif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9717032-D41C-654E-A7FD-90723307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346" y="4299288"/>
            <a:ext cx="11519913" cy="2033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Explain why you chose this idea/opportunity over others, and why it is well-suited to blockchain technologies.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EE41A-67BF-AC47-B906-2D6800245B91}"/>
              </a:ext>
            </a:extLst>
          </p:cNvPr>
          <p:cNvSpPr txBox="1"/>
          <p:nvPr userDrawn="1"/>
        </p:nvSpPr>
        <p:spPr>
          <a:xfrm>
            <a:off x="358346" y="1122116"/>
            <a:ext cx="341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NAME: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AF29ADE-2329-2944-B1F9-93DC524218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042" y="1122116"/>
            <a:ext cx="8814217" cy="430887"/>
          </a:xfrm>
        </p:spPr>
        <p:txBody>
          <a:bodyPr rIns="0"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 the idea/opportunity you selected for your project.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6" y="1743708"/>
            <a:ext cx="493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DESCRIPTION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6DA33-C603-4448-A915-FD378D214829}"/>
              </a:ext>
            </a:extLst>
          </p:cNvPr>
          <p:cNvSpPr txBox="1"/>
          <p:nvPr userDrawn="1"/>
        </p:nvSpPr>
        <p:spPr>
          <a:xfrm>
            <a:off x="358346" y="3837623"/>
            <a:ext cx="493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RATIONALE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6" y="2205373"/>
            <a:ext cx="11519913" cy="152666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Briefly describe your idea/opportunity, including its purpose and/or objectives.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CABEC3-F335-3F48-95D4-384741C92E50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OPPORTUNITY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1925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Statement of Need /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OF NEED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5" y="1595777"/>
            <a:ext cx="11521440" cy="201168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Write your statement of need (a.k.a. problem statement) here.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85B9D-5B9F-CB48-9030-F5D7E3D23A53}"/>
              </a:ext>
            </a:extLst>
          </p:cNvPr>
          <p:cNvSpPr txBox="1"/>
          <p:nvPr userDrawn="1"/>
        </p:nvSpPr>
        <p:spPr>
          <a:xfrm>
            <a:off x="358346" y="3649094"/>
            <a:ext cx="1151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OF BENEFIT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332300-EE55-0344-A3ED-3F9BDAD25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346" y="4110758"/>
            <a:ext cx="11519913" cy="201168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Write your statement of benefit here.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6D64184-1C56-A34A-BE1F-116A1D8747C2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OPPORTUNITY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9557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Va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6" y="1595777"/>
            <a:ext cx="11519913" cy="168037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tabLst/>
              <a:defRPr/>
            </a:pPr>
            <a:r>
              <a:rPr lang="en-US" dirty="0"/>
              <a:t>Explain how your idea will bring new or added value to your customers.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85B9D-5B9F-CB48-9030-F5D7E3D23A53}"/>
              </a:ext>
            </a:extLst>
          </p:cNvPr>
          <p:cNvSpPr txBox="1"/>
          <p:nvPr userDrawn="1"/>
        </p:nvSpPr>
        <p:spPr>
          <a:xfrm>
            <a:off x="358346" y="3424506"/>
            <a:ext cx="1151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POSITIONING STATEMENT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332300-EE55-0344-A3ED-3F9BDAD25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346" y="3886170"/>
            <a:ext cx="11519913" cy="244611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 i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Write your positioning statement here.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74CD71-8415-7E49-BE37-BDB6E9354ECB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POSITIONING</a:t>
            </a:r>
          </a:p>
        </p:txBody>
      </p:sp>
    </p:spTree>
    <p:extLst>
      <p:ext uri="{BB962C8B-B14F-4D97-AF65-F5344CB8AC3E}">
        <p14:creationId xmlns:p14="http://schemas.microsoft.com/office/powerpoint/2010/main" val="252001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Positio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POSITIONING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6" y="1595777"/>
            <a:ext cx="11519913" cy="4736511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Explain how your idea will affect the strategic positioning of your organization. Also describe your approach to sustaining this positioning.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C2E826-A626-F54B-A737-6A7DB246F3A7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POSITIONING</a:t>
            </a:r>
          </a:p>
        </p:txBody>
      </p:sp>
    </p:spTree>
    <p:extLst>
      <p:ext uri="{BB962C8B-B14F-4D97-AF65-F5344CB8AC3E}">
        <p14:creationId xmlns:p14="http://schemas.microsoft.com/office/powerpoint/2010/main" val="44546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Exec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4269417-925C-AA46-95B7-26A8E292A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775" y="985754"/>
            <a:ext cx="11503025" cy="5506953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r>
              <a:rPr lang="en-US" dirty="0"/>
              <a:t>Insert a picture of your completed Business Model Canvas.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2E6FF2-97B8-B144-9D2E-85619A8625CE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7409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6" y="1595777"/>
            <a:ext cx="11519913" cy="4736511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Char char="§"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Describe your proposed business model.  In this description, highlight your key activities, cost structure, and revenue streams.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DC8705-3EB5-B646-A673-B814AC097B2D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3610883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6" y="1595777"/>
            <a:ext cx="11519913" cy="2061824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Who would be needed on your team to make this idea a success?  Identify the skills and experiences they would require.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7DDFF-B169-7349-8013-78FC25CF11BA}"/>
              </a:ext>
            </a:extLst>
          </p:cNvPr>
          <p:cNvSpPr txBox="1"/>
          <p:nvPr userDrawn="1"/>
        </p:nvSpPr>
        <p:spPr>
          <a:xfrm>
            <a:off x="342573" y="3804580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 &amp; ALLIES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950AF5D-2664-5B45-BA6F-FA4F570FC4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573" y="4266246"/>
            <a:ext cx="11519913" cy="2066042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Identify any potential partners or allies you would need in order to execute your idea. 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40FFBBD-A9AF-C247-AB83-263C13DA8840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732017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Bounda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32393-5BE2-B841-9F09-BE133D099F49}"/>
              </a:ext>
            </a:extLst>
          </p:cNvPr>
          <p:cNvSpPr txBox="1"/>
          <p:nvPr userDrawn="1"/>
        </p:nvSpPr>
        <p:spPr>
          <a:xfrm>
            <a:off x="358345" y="1134112"/>
            <a:ext cx="1151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3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CONSIDERATIONS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A279E0-902C-7045-92B9-72B4408AEA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345" y="1595778"/>
            <a:ext cx="11519913" cy="473651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 sz="2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1383C6"/>
              </a:buClr>
              <a:buSzPct val="125000"/>
              <a:buFont typeface="Wingdings" pitchFamily="2" charset="2"/>
              <a:buNone/>
              <a:tabLst/>
              <a:defRPr/>
            </a:pPr>
            <a:r>
              <a:rPr lang="en-US" dirty="0"/>
              <a:t>Describe any operational considerations needed to execute your idea (e.g. risks, obstacles, boundary decisions).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F249D71-61D5-B24F-AB66-F605245D3D40}"/>
              </a:ext>
            </a:extLst>
          </p:cNvPr>
          <p:cNvSpPr txBox="1">
            <a:spLocks/>
          </p:cNvSpPr>
          <p:nvPr userDrawn="1"/>
        </p:nvSpPr>
        <p:spPr>
          <a:xfrm>
            <a:off x="358345" y="0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333333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541061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CD9003-89EF-2543-B5A6-B4EEDED98A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8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140D4-47EE-6748-A7C5-5CA185250F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99751"/>
            <a:ext cx="9144000" cy="2533135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CLOSING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1C4D4-287B-2941-A10E-62070035E6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8849" y="3632887"/>
            <a:ext cx="6314302" cy="420129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>
                <a:solidFill>
                  <a:srgbClr val="33333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Name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EF817F-FC23-914D-BB20-6E574B9566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8463" y="4053016"/>
            <a:ext cx="6315075" cy="46955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en-US" dirty="0"/>
              <a:t>Job Title, Organization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192335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E4A9-34BB-FF40-B307-16C21D9EB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0C2C-9271-0E44-8127-941859BBA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545A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545A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545A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545A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068E-A87D-C04C-A552-83C1C3D5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6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64BC-DEDE-D149-8CD7-8C83C97F29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346" y="1"/>
            <a:ext cx="11504140" cy="114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0377-B083-7445-B574-36F0EEC81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346" y="1322173"/>
            <a:ext cx="5661454" cy="485479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061E3-B32E-1C4C-A9B1-19BDE1ACE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2173"/>
            <a:ext cx="5690286" cy="48547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4BE96-0BF9-1F46-B622-55D53801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1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6F7D-C8FC-3747-9175-07F058B4D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F7A81-B884-E54E-AC0C-02892529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2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806037-C9D7-1043-8ADE-49B4182A3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D6F7D-C8FC-3747-9175-07F058B4D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F7A81-B884-E54E-AC0C-02892529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37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708658-1590-2141-BEA7-541D64E0243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E7A0A-2663-C241-B479-E7EDD825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045-B339-2D4D-9AD7-870214976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111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9E7187D0-4F97-4E4C-96EC-E7196819DA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7964" t="9939" r="9967" b="43948"/>
          <a:stretch/>
        </p:blipFill>
        <p:spPr>
          <a:xfrm>
            <a:off x="-6678" y="-1"/>
            <a:ext cx="12205356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DA42A-F4BC-294B-AB6A-C19BB7D5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6" y="1"/>
            <a:ext cx="11504140" cy="114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429EB-6A43-7246-93B4-9FE5075E0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346" y="1325563"/>
            <a:ext cx="1150414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6A14-7D63-5445-A5B2-172141EEC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8645" y="6492708"/>
            <a:ext cx="3803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fld id="{EE7A0045-B339-2D4D-9AD7-870214976D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50" r:id="rId15"/>
    <p:sldLayoutId id="2147483652" r:id="rId16"/>
    <p:sldLayoutId id="2147483656" r:id="rId17"/>
    <p:sldLayoutId id="2147483654" r:id="rId18"/>
    <p:sldLayoutId id="2147483655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287338" indent="-287338" algn="l" defTabSz="914400" rtl="0" eaLnBrk="1" latinLnBrk="0" hangingPunct="1">
        <a:lnSpc>
          <a:spcPct val="100000"/>
        </a:lnSpc>
        <a:spcBef>
          <a:spcPts val="2200"/>
        </a:spcBef>
        <a:buClr>
          <a:srgbClr val="1383C6"/>
        </a:buClr>
        <a:buSzPct val="125000"/>
        <a:buFont typeface="Wingdings" pitchFamily="2" charset="2"/>
        <a:buChar char="§"/>
        <a:tabLst/>
        <a:defRPr sz="2400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83C6"/>
        </a:buClr>
        <a:buSzPct val="125000"/>
        <a:buFont typeface="Wingdings" pitchFamily="2" charset="2"/>
        <a:buChar char="§"/>
        <a:defRPr sz="2000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83C6"/>
        </a:buClr>
        <a:buSzPct val="125000"/>
        <a:buFont typeface="Wingdings" pitchFamily="2" charset="2"/>
        <a:buChar char="§"/>
        <a:defRPr sz="1800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83C6"/>
        </a:buClr>
        <a:buSzPct val="125000"/>
        <a:buFont typeface="Wingdings" pitchFamily="2" charset="2"/>
        <a:buChar char="§"/>
        <a:defRPr sz="1600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83C6"/>
        </a:buClr>
        <a:buSzPct val="125000"/>
        <a:buFont typeface="Wingdings" pitchFamily="2" charset="2"/>
        <a:buChar char="§"/>
        <a:defRPr sz="1600" kern="1200">
          <a:solidFill>
            <a:srgbClr val="33333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FCAE-EEDB-9E43-B872-28EE473E1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PharmaChain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833A-EDD9-254C-8431-C36A87261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Lohitaksha Patary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A07B18-30D7-DA42-83E0-E5264BAE8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r>
              <a:t>02/04/2026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484DB1-3797-E744-A540-E6A91E48E7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Undergraduate Student, Amrita Vishwa Vidyapeetham, Bangalore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9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3100D6-CFD4-514C-AC79-ADA1C398D8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Pharmaceutical supply chain (Healthcare)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C03552-DE6D-0E4B-93B2-22DFA84B4A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t>Hospitals, pharmacies, and patients needing verifiable batch-level provenance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7EFB2F-E854-4B43-83D8-BBCAFB6F4F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• High counterfeit risk and patient safety impact</a:t>
            </a:r>
            <a:endParaRPr lang="en-US"/>
          </a:p>
          <a:p>
            <a:r>
              <a:t>• Many parties (manufacturer → distributor → pharmacy/hospital → customer) need a shared source of truth</a:t>
            </a:r>
          </a:p>
          <a:p>
            <a:r>
              <a:t>• Regulators require traceability and fast, targeted recalls</a:t>
            </a:r>
          </a:p>
          <a:p>
            <a:r>
              <a:t>• Current ERP/track-and-trace data is siloed and hard to reconcile across organizations</a:t>
            </a:r>
          </a:p>
          <a:p>
            <a:r>
              <a:t>• Blockchain provides tamper-evident audit trails, provenance, and cryptographic verification (hash chain + signatures)</a:t>
            </a:r>
          </a:p>
          <a:p>
            <a:r>
              <a:t>• Merkle proofs enable efficient integrity checks without exposing all data</a:t>
            </a:r>
          </a:p>
        </p:txBody>
      </p:sp>
    </p:spTree>
    <p:extLst>
      <p:ext uri="{BB962C8B-B14F-4D97-AF65-F5344CB8AC3E}">
        <p14:creationId xmlns:p14="http://schemas.microsoft.com/office/powerpoint/2010/main" val="2187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E95836-3FEB-714C-A950-EA4AC52DF8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t>Approach:</a:t>
            </a:r>
            <a:endParaRPr lang="en-US"/>
          </a:p>
          <a:p>
            <a:r>
              <a:t>• Desk research on pharma counterfeits, recalls, and serialization/track-and-trace regulations</a:t>
            </a:r>
          </a:p>
          <a:p>
            <a:r>
              <a:t>• Stakeholder mapping (manufacturers, distributors, hospitals, pharmacies, customers, regulators)</a:t>
            </a:r>
          </a:p>
          <a:p>
            <a:r>
              <a:t>• Process analysis of batch creation, custody transfer, and dispensing events</a:t>
            </a:r>
          </a:p>
          <a:p>
            <a:r>
              <a:t>• Gap analysis of existing systems (ERP + EDI + centralized portals)</a:t>
            </a:r>
          </a:p>
          <a:p/>
          <a:p>
            <a:r>
              <a:t>Key findings:</a:t>
            </a:r>
          </a:p>
          <a:p>
            <a:r>
              <a:t>• Data fragmentation creates blind spots and disputes during recalls/investigations</a:t>
            </a:r>
          </a:p>
          <a:p>
            <a:r>
              <a:t>• Last-mile verification for customers is weak (hard to prove authenticity)</a:t>
            </a:r>
          </a:p>
          <a:p>
            <a:r>
              <a:t>• A permissioned, shared ledger with digital signatures improves trust and accountability</a:t>
            </a:r>
          </a:p>
          <a:p>
            <a:r>
              <a:t>• Storing proofs (hashes, Merkle roots) gives integrity guarantees with minimal data sharing</a:t>
            </a:r>
          </a:p>
        </p:txBody>
      </p:sp>
    </p:spTree>
    <p:extLst>
      <p:ext uri="{BB962C8B-B14F-4D97-AF65-F5344CB8AC3E}">
        <p14:creationId xmlns:p14="http://schemas.microsoft.com/office/powerpoint/2010/main" val="146568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D79372-5DB8-4249-BF3F-2A733985F9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t>Top competitors (examples):</a:t>
            </a:r>
            <a:endParaRPr lang="en-US"/>
          </a:p>
          <a:p>
            <a:r>
              <a:t>1) MediLedger (Chronicled)</a:t>
            </a:r>
          </a:p>
          <a:p>
            <a:r>
              <a:t>Strengths: Industry consortia, DSCSA alignment, strong network effects</a:t>
            </a:r>
          </a:p>
          <a:p>
            <a:r>
              <a:t>Weaknesses: Adoption/governance complexity; integration effort</a:t>
            </a:r>
          </a:p>
          <a:p>
            <a:r>
              <a:t>2) TraceLink</a:t>
            </a:r>
          </a:p>
          <a:p>
            <a:r>
              <a:t>Strengths: Established pharma network; robust serialization &amp; compliance tooling</a:t>
            </a:r>
          </a:p>
          <a:p>
            <a:r>
              <a:t>Weaknesses: Primarily centralized; limited cryptographic, shared-ledger guarantees</a:t>
            </a:r>
          </a:p>
          <a:p>
            <a:r>
              <a:t>3) SAP ATTP / SAP ICH for Life Sciences</a:t>
            </a:r>
          </a:p>
          <a:p>
            <a:r>
              <a:t>Strengths: Deep ERP integration; enterprise-grade operations</a:t>
            </a:r>
          </a:p>
          <a:p>
            <a:r>
              <a:t>Weaknesses: Vendor lock-in; cross-company transparency depends on integrations</a:t>
            </a:r>
          </a:p>
          <a:p/>
          <a:p>
            <a:r>
              <a:t>PharmaChain differentiation: cryptographic provenance (hash chain + Merkle root + RSA signatures) + role-based dashboards with verification endpoints.</a:t>
            </a:r>
          </a:p>
        </p:txBody>
      </p:sp>
    </p:spTree>
    <p:extLst>
      <p:ext uri="{BB962C8B-B14F-4D97-AF65-F5344CB8AC3E}">
        <p14:creationId xmlns:p14="http://schemas.microsoft.com/office/powerpoint/2010/main" val="21088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decision_matrix.png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915" b="69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2951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8EAD00-0487-3C4D-A77A-E83D0459A5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t>PharmaChain is a blockchain-inspired pharmaceutical supply tracker that records medicine batch events (creation, transfer, dispensing) with cryptographic proofs.</a:t>
            </a:r>
            <a:endParaRPr lang="en-US"/>
          </a:p>
          <a:p>
            <a:r>
              <a:t>It supports companies, hospitals, and customers to track and verify batch authenticity using hash chaining, Merkle-root integrity checks, and RSA digital signatures.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BB631-4A39-9F42-A9F3-2177A3468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t>PharmaChain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1C3C7-5CBD-C141-8114-CD33F126FA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t>• High-risk domain where tampering and counterfeits directly harm patients</a:t>
            </a:r>
            <a:endParaRPr lang="en-US"/>
          </a:p>
          <a:p>
            <a:r>
              <a:t>• Multiple organizations must coordinate but don’t fully trust each other</a:t>
            </a:r>
          </a:p>
          <a:p>
            <a:r>
              <a:t>• Immutable, signed events improve auditability and accountability</a:t>
            </a:r>
          </a:p>
          <a:p>
            <a:r>
              <a:t>• Proof storage (hashes/Merkle roots) provides integrity guarantees with low data exposure</a:t>
            </a:r>
          </a:p>
          <a:p>
            <a:r>
              <a:t>• Fits a permissioned governance model aligned with real-world compliance needs</a:t>
            </a:r>
          </a:p>
        </p:txBody>
      </p:sp>
    </p:spTree>
    <p:extLst>
      <p:ext uri="{BB962C8B-B14F-4D97-AF65-F5344CB8AC3E}">
        <p14:creationId xmlns:p14="http://schemas.microsoft.com/office/powerpoint/2010/main" val="319890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626450-7B39-B242-B89D-FD20CE79AF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t>Patients, pharmacies, and hospitals lack a single trusted way to verify medicine authenticity and track batch custody across the full supply chain, leading to counterfeit risk, recall delays, and high reconciliation overhead.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D2A2F-E78E-4640-A27B-BCD51D15B8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r>
              <a:t>PharmaChain provides a tamper-evident, verifiable provenance trail for each medicine batch so stakeholders can detect anomalies faster, improve recall precision, reduce disputes, and give customers confidence in what they purchased.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2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284E8F-8092-AB44-A91B-C466C1DF9C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t>• Verifiable batch provenance across organizations</a:t>
            </a:r>
            <a:endParaRPr lang="en-US"/>
          </a:p>
          <a:p>
            <a:r>
              <a:t>• Strong authenticity guarantees via RSA signatures</a:t>
            </a:r>
          </a:p>
          <a:p>
            <a:r>
              <a:t>• Efficient integrity checks via Merkle proofs</a:t>
            </a:r>
          </a:p>
          <a:p>
            <a:r>
              <a:t>• Faster, more targeted recalls and compliance reporting</a:t>
            </a:r>
          </a:p>
          <a:p>
            <a:r>
              <a:t>• Customer-facing verification (track/verify endpoints + dashboard)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D500D-D34E-F84B-80A7-8DD6CE1BE1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r>
              <a:t>For manufacturers, hospitals, pharmacies, and customers who need trustworthy medicine provenance, PharmaChain is a permissioned traceability platform that records signed batch events and integrity proofs, enabling instant verification and audit-ready transparency across the supply chain.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0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C2308E-5F06-7948-80B7-67A7956C32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PharmaChain positions an organization as a trusted, compliance-forward supply chain partner by providing verifiable provenance and faster response to recalls and counterfeit incidents.</a:t>
            </a:r>
            <a:endParaRPr lang="en-US" dirty="0"/>
          </a:p>
          <a:p/>
          <a:p>
            <a:r>
              <a:t>Sustaining the positioning:</a:t>
            </a:r>
          </a:p>
          <a:p>
            <a:r>
              <a:t>• Start with pilots (1 manufacturer + 1 distributor + 2 pharmacies/hospitals)</a:t>
            </a:r>
          </a:p>
          <a:p>
            <a:r>
              <a:t>• Integrate with existing workflows (APIs, CSV import/export, ERP connectors)</a:t>
            </a:r>
          </a:p>
          <a:p>
            <a:r>
              <a:t>• Establish governance and permissioning for who can write/verify events</a:t>
            </a:r>
          </a:p>
          <a:p>
            <a:r>
              <a:t>• Use standards (serialization/GS1 identifiers) to reduce friction and scale</a:t>
            </a:r>
          </a:p>
        </p:txBody>
      </p:sp>
    </p:spTree>
    <p:extLst>
      <p:ext uri="{BB962C8B-B14F-4D97-AF65-F5344CB8AC3E}">
        <p14:creationId xmlns:p14="http://schemas.microsoft.com/office/powerpoint/2010/main" val="277255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business_model_canvas.png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913" b="69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9250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5D8583-53B6-0B47-97B9-8FD7EF985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Key activities: participant onboarding, ERP/workflow integrations, blockchain/node operations, smart contract + API maintenance, and compliance reporting.</a:t>
            </a:r>
            <a:endParaRPr lang="en-US" dirty="0"/>
          </a:p>
          <a:p>
            <a:r>
              <a:t>Cost structure: engineering, cloud + node hosting, security audits, support/customer success, and governance overhead.</a:t>
            </a:r>
          </a:p>
          <a:p>
            <a:r>
              <a:t>Revenue streams: subscription pricing per participant (manufacturer/distributor/pharmacy), tiered by transaction volume, plus premium analytics/compliance reports and integration services.</a:t>
            </a:r>
          </a:p>
        </p:txBody>
      </p:sp>
    </p:spTree>
    <p:extLst>
      <p:ext uri="{BB962C8B-B14F-4D97-AF65-F5344CB8AC3E}">
        <p14:creationId xmlns:p14="http://schemas.microsoft.com/office/powerpoint/2010/main" val="292131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54DF0E-EF72-5740-B17D-6A5319F755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Team needs:</a:t>
            </a:r>
            <a:endParaRPr lang="en-US" dirty="0"/>
          </a:p>
          <a:p>
            <a:r>
              <a:t>• Blockchain/cryptography engineer (signatures, integrity proofs)</a:t>
            </a:r>
          </a:p>
          <a:p>
            <a:r>
              <a:t>• Backend engineer (Rust/Axum, SQLx)</a:t>
            </a:r>
          </a:p>
          <a:p>
            <a:r>
              <a:t>• Frontend engineer (Next.js, dashboards)</a:t>
            </a:r>
          </a:p>
          <a:p>
            <a:r>
              <a:t>• Security engineer (key management, audits)</a:t>
            </a:r>
          </a:p>
          <a:p>
            <a:r>
              <a:t>• Product/compliance lead (pharma workflows, regulation)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EFFE-A697-DF4A-AE45-EF499F7018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Partners &amp; allies:</a:t>
            </a:r>
            <a:endParaRPr lang="en-US" dirty="0"/>
          </a:p>
          <a:p>
            <a:r>
              <a:t>• Manufacturers and distributors for pilot deployments</a:t>
            </a:r>
          </a:p>
          <a:p>
            <a:r>
              <a:t>• Pharmacies/hospitals for last-mile verification</a:t>
            </a:r>
          </a:p>
          <a:p>
            <a:r>
              <a:t>• Regulators/industry bodies for traceability alignment</a:t>
            </a:r>
          </a:p>
          <a:p>
            <a:r>
              <a:t>• GS1/serialization ecosystem + integration vendors</a:t>
            </a:r>
          </a:p>
          <a:p>
            <a:r>
              <a:t>• Security/audit firms for assurance</a:t>
            </a:r>
          </a:p>
        </p:txBody>
      </p:sp>
    </p:spTree>
    <p:extLst>
      <p:ext uri="{BB962C8B-B14F-4D97-AF65-F5344CB8AC3E}">
        <p14:creationId xmlns:p14="http://schemas.microsoft.com/office/powerpoint/2010/main" val="106115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143005-368B-0C49-8FA0-CB13BBECCC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t>Operational considerations / boundaries:</a:t>
            </a:r>
            <a:endParaRPr lang="en-US" dirty="0"/>
          </a:p>
          <a:p>
            <a:r>
              <a:t>• Adoption risk: incentives and low-friction integration are critical</a:t>
            </a:r>
          </a:p>
          <a:p>
            <a:r>
              <a:t>• Data quality: validate identifiers, timestamps, and role permissions</a:t>
            </a:r>
          </a:p>
          <a:p>
            <a:r>
              <a:t>• Privacy: keep sensitive fields off-chain; store only hashes/proofs where needed</a:t>
            </a:r>
          </a:p>
          <a:p>
            <a:r>
              <a:t>• Governance: permissioned membership, key management, and audit policies</a:t>
            </a:r>
          </a:p>
          <a:p>
            <a:r>
              <a:t>• Performance: batch writes, async processing, and scalable verification endpoints</a:t>
            </a:r>
          </a:p>
          <a:p/>
          <a:p>
            <a:r>
              <a:t>Mitigations: phased rollout, clear governance model, API-first integrations, and security reviews.</a:t>
            </a:r>
          </a:p>
        </p:txBody>
      </p:sp>
    </p:spTree>
    <p:extLst>
      <p:ext uri="{BB962C8B-B14F-4D97-AF65-F5344CB8AC3E}">
        <p14:creationId xmlns:p14="http://schemas.microsoft.com/office/powerpoint/2010/main" val="6381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EF25-9168-A147-AFBB-788BB5A67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Thank you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000F0-F1AB-4D4C-91A4-42A2DD383C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Lohitaksha Patary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1CB6E-2A4E-1342-8AAF-353EBCDA5A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Undergraduate Student, Amrita Vishwa Vidyapeetham, Bangalore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8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Alisa Acosta</dc:creator>
  <cp:lastModifiedBy>Lohitaksha Patary</cp:lastModifiedBy>
  <cp:revision>37</cp:revision>
  <dcterms:created xsi:type="dcterms:W3CDTF">2019-03-19T14:42:41Z</dcterms:created>
  <dcterms:modified xsi:type="dcterms:W3CDTF">2026-02-04T08:38:54Z</dcterms:modified>
</cp:coreProperties>
</file>